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21F26"/>
          </a:solidFill>
          <a:ln w="15240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280160" y="1188720"/>
            <a:ext cx="2377440" cy="365760"/>
          </a:xfrm>
          <a:prstGeom prst="round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8FAFC"/>
                </a:solidFill>
                <a:latin typeface="Trebuchet MS"/>
              </a:defRPr>
            </a:pPr>
            <a:r>
              <a:t>⚡ AUTONOMOUS AI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737360"/>
            <a:ext cx="9601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8FAFC"/>
                </a:solidFill>
                <a:latin typeface="Trebuchet MS"/>
              </a:defRPr>
            </a:pPr>
            <a:r>
              <a:t>Agentic Code Fixer</a:t>
            </a:r>
          </a:p>
          <a:p>
            <a:pPr>
              <a:spcBef>
                <a:spcPts val="800"/>
              </a:spcBef>
              <a:defRPr sz="2000" b="1">
                <a:solidFill>
                  <a:srgbClr val="2EC4B6"/>
                </a:solidFill>
                <a:latin typeface="Trebuchet MS"/>
              </a:defRPr>
            </a:pPr>
            <a:r>
              <a:t>Closed-Loop Autonomous Code Generation, Execution &amp; Self-Correction</a:t>
            </a:r>
          </a:p>
          <a:p>
            <a:pPr>
              <a:spcBef>
                <a:spcPts val="800"/>
              </a:spcBef>
              <a:defRPr sz="1400">
                <a:solidFill>
                  <a:srgbClr val="94A3B8"/>
                </a:solidFill>
                <a:latin typeface="Segoe UI"/>
              </a:defRPr>
            </a:pPr>
            <a:r>
              <a:t>Turning failing test suites into verified, surgical AST patches with deterministic proof receipts.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4297680"/>
            <a:ext cx="2240280" cy="1280160"/>
          </a:xfrm>
          <a:prstGeom prst="roundRect">
            <a:avLst/>
          </a:prstGeom>
          <a:solidFill>
            <a:srgbClr val="0E191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8B5CF6"/>
                </a:solidFill>
                <a:latin typeface="Trebuchet MS"/>
              </a:defRPr>
            </a:pPr>
            <a:r>
              <a:t>LANGGRAPH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StateGraph Orchestration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03320" y="4297680"/>
            <a:ext cx="2240280" cy="1280160"/>
          </a:xfrm>
          <a:prstGeom prst="roundRect">
            <a:avLst/>
          </a:prstGeom>
          <a:solidFill>
            <a:srgbClr val="0E191F"/>
          </a:solidFill>
          <a:ln w="15240">
            <a:solidFill>
              <a:srgbClr val="E59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703320" y="4297680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59B56"/>
                </a:solidFill>
                <a:latin typeface="Trebuchet MS"/>
              </a:defRPr>
            </a:pPr>
            <a:r>
              <a:t>GROQ &amp; GEMINI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Sub-1.5s High Speed LLMs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79" y="4297680"/>
            <a:ext cx="2240280" cy="1280160"/>
          </a:xfrm>
          <a:prstGeom prst="roundRect">
            <a:avLst/>
          </a:prstGeom>
          <a:solidFill>
            <a:srgbClr val="0E191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79" y="4297680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10B981"/>
                </a:solidFill>
                <a:latin typeface="Trebuchet MS"/>
              </a:defRPr>
            </a:pPr>
            <a:r>
              <a:t>SANDBOX RUNNER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Isolated Zero-Leak Sandbox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549640" y="4297680"/>
            <a:ext cx="2240280" cy="1280160"/>
          </a:xfrm>
          <a:prstGeom prst="roundRect">
            <a:avLst/>
          </a:prstGeom>
          <a:solidFill>
            <a:srgbClr val="0E191F"/>
          </a:solidFill>
          <a:ln w="15240">
            <a:solidFill>
              <a:srgbClr val="E25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49640" y="4297680"/>
            <a:ext cx="2240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25A38"/>
                </a:solidFill>
                <a:latin typeface="Trebuchet MS"/>
              </a:defRPr>
            </a:pPr>
            <a:r>
              <a:t>DUCK DEBUGGER</a:t>
            </a:r>
          </a:p>
          <a:p>
            <a:pPr>
              <a:spcBef>
                <a:spcPts val="4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3-Level Socratic AI Tutor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C4B6"/>
                </a:solidFill>
                <a:latin typeface="Trebuchet MS"/>
              </a:defRPr>
            </a:pPr>
            <a:r>
              <a:t>INDUSTRY CHALLENGE &amp; 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Trebuchet MS"/>
              </a:defRPr>
            </a:pPr>
            <a:r>
              <a:t>The 'One-Shot' LLM Paradox in Code Generation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Why probabilistic AI coding assistants break in production environments.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572000"/>
          </a:xfrm>
          <a:prstGeom prst="roundRect">
            <a:avLst/>
          </a:prstGeom>
          <a:solidFill>
            <a:srgbClr val="121F26"/>
          </a:solidFill>
          <a:ln w="1524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920240"/>
            <a:ext cx="2926080" cy="320040"/>
          </a:xfrm>
          <a:prstGeom prst="roundRect">
            <a:avLst/>
          </a:prstGeom>
          <a:solidFill>
            <a:srgbClr val="F43F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8FAFC"/>
                </a:solidFill>
                <a:latin typeface="Trebuchet MS"/>
              </a:defRPr>
            </a:pPr>
            <a:r>
              <a:t>❌ TRADITIONAL OPEN-LOOP LLMS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1">
                <a:solidFill>
                  <a:srgbClr val="F8FAFC"/>
                </a:solidFill>
                <a:latin typeface="Trebuchet MS"/>
              </a:defRPr>
            </a:pPr>
            <a:r>
              <a:t>• Probabilistic Guesswork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  LLMs guess code based on syntax statistics without executing or testing edge cases.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  <a:latin typeface="Trebuchet MS"/>
              </a:defRPr>
            </a:pPr>
            <a:r>
              <a:t>• Cascading Regressions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  One-shot fixes rewrite entire files, accidentally deleting critical unaffected logic.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  <a:latin typeface="Trebuchet MS"/>
              </a:defRPr>
            </a:pPr>
            <a:r>
              <a:t>• Hallucinated Interfaces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  Generates plausible-looking methods and types that crash at runtime.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  <a:latin typeface="Trebuchet MS"/>
              </a:defRPr>
            </a:pPr>
            <a:r>
              <a:t>• 60%+ Developer Triage Tax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  Engineers waste hours reviewing, executing, and manually debugging AI suggestions.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572000"/>
          </a:xfrm>
          <a:prstGeom prst="roundRect">
            <a:avLst/>
          </a:prstGeom>
          <a:solidFill>
            <a:srgbClr val="121F2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0" y="1920240"/>
            <a:ext cx="29260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8FAFC"/>
                </a:solidFill>
                <a:latin typeface="Trebuchet MS"/>
              </a:defRPr>
            </a:pPr>
            <a:r>
              <a:t>✅ AGENTIC CLOSED-LOOP REPAIR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4663440" cy="3566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300" b="1">
                <a:solidFill>
                  <a:srgbClr val="F8FAFC"/>
                </a:solidFill>
                <a:latin typeface="Trebuchet MS"/>
              </a:defRPr>
            </a:pPr>
            <a:r>
              <a:t>• Automated Feedback Loop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  Executes test contracts in isolated sandboxes; feeds real runtime errors back to LLM.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  <a:latin typeface="Trebuchet MS"/>
              </a:defRPr>
            </a:pPr>
            <a:r>
              <a:t>• Surgical AST Invariant Diffs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  Only patches the exact failing logical lines while strictly preserving codebase structure.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  <a:latin typeface="Trebuchet MS"/>
              </a:defRPr>
            </a:pPr>
            <a:r>
              <a:t>• Deterministic Proof Receipts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  Cryptographically verifies 100% test contract passage before proposing any patch.</a:t>
            </a:r>
          </a:p>
          <a:p>
            <a:pPr>
              <a:spcBef>
                <a:spcPts val="800"/>
              </a:spcBef>
              <a:defRPr sz="1300" b="1">
                <a:solidFill>
                  <a:srgbClr val="F8FAFC"/>
                </a:solidFill>
                <a:latin typeface="Trebuchet MS"/>
              </a:defRPr>
            </a:pPr>
            <a:r>
              <a:t>• Zero Hallucination Perimeter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  Guarantees zero-defect pull request readiness with high Bayesian confidence scores.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C4B6"/>
                </a:solidFill>
                <a:latin typeface="Trebuchet MS"/>
              </a:defRPr>
            </a:pPr>
            <a:r>
              <a:t>SYSTEM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Trebuchet MS"/>
              </a:defRPr>
            </a:pPr>
            <a:r>
              <a:t>Three Core Engineering Pillars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How Agentic Code Fixer delivers enterprise-grade code reliability.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3840480"/>
          </a:xfrm>
          <a:prstGeom prst="roundRect">
            <a:avLst/>
          </a:prstGeom>
          <a:solidFill>
            <a:srgbClr val="121F2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920240"/>
            <a:ext cx="2880360" cy="36576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1. Multi-Agent StateGraph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2880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LangGraph-powered stateful cycle coordinating Planner, Coder, Sandbox Tester, and Refactor nodes in a deterministic state machine.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✓  Shared Typed Schema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✓  Conditional Branching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✓  Max Iteration Safeguards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45920"/>
            <a:ext cx="3429000" cy="3840480"/>
          </a:xfrm>
          <a:prstGeom prst="roundRect">
            <a:avLst/>
          </a:prstGeom>
          <a:solidFill>
            <a:srgbClr val="121F26"/>
          </a:solidFill>
          <a:ln w="1524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45152" y="1920240"/>
            <a:ext cx="2880360" cy="36576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2. Isolated Polyglot Sandbox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2" y="2468880"/>
            <a:ext cx="2880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Zero-leak sub-second ephemeral container runner supporting Python, JS/TS, Java, C++, Rust, and Go.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✓  Sub-10s Timeouts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✓  Process Isolation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✓  Full stdout/stderr Capture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645920"/>
            <a:ext cx="3429000" cy="3840480"/>
          </a:xfrm>
          <a:prstGeom prst="roundRect">
            <a:avLst/>
          </a:prstGeom>
          <a:solidFill>
            <a:srgbClr val="121F26"/>
          </a:solidFill>
          <a:ln w="15240">
            <a:solidFill>
              <a:srgbClr val="E59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84464" y="1920240"/>
            <a:ext cx="2880360" cy="365760"/>
          </a:xfrm>
          <a:prstGeom prst="roundRect">
            <a:avLst/>
          </a:prstGeom>
          <a:solidFill>
            <a:srgbClr val="E59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3. Socratic Duck Debugger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2468880"/>
            <a:ext cx="2880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Interactive 3-level pedagogical AI tutor with frustration detection and source-in = source-out language parity.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✓  Conceptual → Implementation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✓  Sentiment &amp; Mood Detection</a:t>
            </a:r>
          </a:p>
          <a:p>
            <a:pPr>
              <a:spcBef>
                <a:spcPts val="800"/>
              </a:spcBef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✓  1-Click Agent Takeover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669280"/>
            <a:ext cx="10728655" cy="731520"/>
          </a:xfrm>
          <a:prstGeom prst="roundRect">
            <a:avLst/>
          </a:prstGeom>
          <a:solidFill>
            <a:srgbClr val="0E191F"/>
          </a:solidFill>
          <a:ln w="15240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71500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C4B6"/>
                </a:solidFill>
                <a:latin typeface="Trebuchet MS"/>
              </a:defRPr>
            </a:pPr>
            <a:r>
              <a:t>🎯 Benchmark Track Record: 40/40 Passing Unit Tests across All 8 Standard Computer Science Challenge Specs.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C4B6"/>
                </a:solidFill>
                <a:latin typeface="Trebuchet MS"/>
              </a:defRPr>
            </a:pPr>
            <a:r>
              <a:t>PIPELINE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Trebuchet MS"/>
              </a:defRPr>
            </a:pPr>
            <a:r>
              <a:t>LangGraph Multi-Agent State Machine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Cyclic repair topology with bounded state transitions and failure escalation.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669280" cy="4663440"/>
          </a:xfrm>
          <a:prstGeom prst="roundRect">
            <a:avLst/>
          </a:prstGeom>
          <a:solidFill>
            <a:srgbClr val="121F2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920240"/>
            <a:ext cx="256032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8FAFC"/>
                </a:solidFill>
                <a:latin typeface="Trebuchet MS"/>
              </a:defRPr>
            </a:pPr>
            <a:r>
              <a:t>STATE TRANSITION GRAPH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05840" y="2377440"/>
            <a:ext cx="5120640" cy="640080"/>
          </a:xfrm>
          <a:prstGeom prst="roundRect">
            <a:avLst/>
          </a:prstGeom>
          <a:solidFill>
            <a:srgbClr val="0E191F"/>
          </a:solidFill>
          <a:ln w="1524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423160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C4B6"/>
                </a:solidFill>
                <a:latin typeface="Trebuchet MS"/>
              </a:defRPr>
            </a:pPr>
            <a:r>
              <a:t>1. START ➔ planner_node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Parses problem spec, preconditions &amp; invariant bounds.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005840" y="3127248"/>
            <a:ext cx="5120640" cy="640080"/>
          </a:xfrm>
          <a:prstGeom prst="roundRect">
            <a:avLst/>
          </a:prstGeom>
          <a:solidFill>
            <a:srgbClr val="0E191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3172968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8B5CF6"/>
                </a:solidFill>
                <a:latin typeface="Trebuchet MS"/>
              </a:defRPr>
            </a:pPr>
            <a:r>
              <a:t>2. coder_node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Synthesizes surgical AST code patch from plan/errors.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05840" y="3877056"/>
            <a:ext cx="5120640" cy="640080"/>
          </a:xfrm>
          <a:prstGeom prst="roundRect">
            <a:avLst/>
          </a:prstGeom>
          <a:solidFill>
            <a:srgbClr val="0E191F"/>
          </a:solidFill>
          <a:ln w="15240">
            <a:solidFill>
              <a:srgbClr val="E59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3922776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59B56"/>
                </a:solidFill>
                <a:latin typeface="Trebuchet MS"/>
              </a:defRPr>
            </a:pPr>
            <a:r>
              <a:t>3. tester_node (Sandbox)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Runs isolated pytest; captures exit code &amp; stack trace.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005840" y="4626864"/>
            <a:ext cx="5120640" cy="640080"/>
          </a:xfrm>
          <a:prstGeom prst="roundRect">
            <a:avLst/>
          </a:prstGeom>
          <a:solidFill>
            <a:srgbClr val="0E191F"/>
          </a:solidFill>
          <a:ln w="15240">
            <a:solidFill>
              <a:srgbClr val="E25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97280" y="4672584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25A38"/>
                </a:solidFill>
                <a:latin typeface="Trebuchet MS"/>
              </a:defRPr>
            </a:pPr>
            <a:r>
              <a:t>4. Conditional Router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If failed &amp; retries &lt; MAX ➔ Re-enter coder_node.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005840" y="5376672"/>
            <a:ext cx="5120640" cy="640080"/>
          </a:xfrm>
          <a:prstGeom prst="roundRect">
            <a:avLst/>
          </a:prstGeom>
          <a:solidFill>
            <a:srgbClr val="0E191F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5422392"/>
            <a:ext cx="4937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Trebuchet MS"/>
              </a:defRPr>
            </a:pPr>
            <a:r>
              <a:t>5. refactor_node ➔ END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Optimizes complexity on pass; generates proof receipt.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675120" y="1645920"/>
            <a:ext cx="4754880" cy="4663440"/>
          </a:xfrm>
          <a:prstGeom prst="roundRect">
            <a:avLst/>
          </a:prstGeom>
          <a:solidFill>
            <a:srgbClr val="121F26"/>
          </a:solidFill>
          <a:ln w="15240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949440" y="1920240"/>
            <a:ext cx="2560320" cy="320040"/>
          </a:xfrm>
          <a:prstGeom prst="round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8FAFC"/>
                </a:solidFill>
                <a:latin typeface="Trebuchet MS"/>
              </a:defRPr>
            </a:pPr>
            <a:r>
              <a:t>AGENTSTATE SCHEMA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377440"/>
            <a:ext cx="42062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100" b="1">
                <a:solidFill>
                  <a:srgbClr val="2EC4B6"/>
                </a:solidFill>
                <a:latin typeface="Consolas"/>
              </a:defRPr>
            </a:pPr>
            <a:r>
              <a:t>• spec: dict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 Target signature, docstring, constraints</a:t>
            </a:r>
          </a:p>
          <a:p>
            <a:pPr>
              <a:spcBef>
                <a:spcPts val="600"/>
              </a:spcBef>
              <a:defRPr sz="1100" b="1">
                <a:solidFill>
                  <a:srgbClr val="2EC4B6"/>
                </a:solidFill>
                <a:latin typeface="Consolas"/>
              </a:defRPr>
            </a:pPr>
            <a:r>
              <a:t>• plan: str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 Structured step-by-step repair roadmap</a:t>
            </a:r>
          </a:p>
          <a:p>
            <a:pPr>
              <a:spcBef>
                <a:spcPts val="600"/>
              </a:spcBef>
              <a:defRPr sz="1100" b="1">
                <a:solidFill>
                  <a:srgbClr val="2EC4B6"/>
                </a:solidFill>
                <a:latin typeface="Consolas"/>
              </a:defRPr>
            </a:pPr>
            <a:r>
              <a:t>• code: str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 Source candidate implementation</a:t>
            </a:r>
          </a:p>
          <a:p>
            <a:pPr>
              <a:spcBef>
                <a:spcPts val="600"/>
              </a:spcBef>
              <a:defRPr sz="1100" b="1">
                <a:solidFill>
                  <a:srgbClr val="2EC4B6"/>
                </a:solidFill>
                <a:latin typeface="Consolas"/>
              </a:defRPr>
            </a:pPr>
            <a:r>
              <a:t>• test_results: dict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 Passed/failed counts, traces, stdout</a:t>
            </a:r>
          </a:p>
          <a:p>
            <a:pPr>
              <a:spcBef>
                <a:spcPts val="600"/>
              </a:spcBef>
              <a:defRPr sz="1100" b="1">
                <a:solidFill>
                  <a:srgbClr val="2EC4B6"/>
                </a:solidFill>
                <a:latin typeface="Consolas"/>
              </a:defRPr>
            </a:pPr>
            <a:r>
              <a:t>• iteration_count: int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 Active retry counter (bound &lt;= 3)</a:t>
            </a:r>
          </a:p>
          <a:p>
            <a:pPr>
              <a:spcBef>
                <a:spcPts val="600"/>
              </a:spcBef>
              <a:defRPr sz="1100" b="1">
                <a:solidFill>
                  <a:srgbClr val="2EC4B6"/>
                </a:solidFill>
                <a:latin typeface="Consolas"/>
              </a:defRPr>
            </a:pPr>
            <a:r>
              <a:t>• status: StatusEnum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 idle | planning | coding | testing | refactoring | passed | failed</a:t>
            </a:r>
          </a:p>
          <a:p>
            <a:pPr>
              <a:spcBef>
                <a:spcPts val="600"/>
              </a:spcBef>
              <a:defRPr sz="1100" b="1">
                <a:solidFill>
                  <a:srgbClr val="2EC4B6"/>
                </a:solidFill>
                <a:latin typeface="Consolas"/>
              </a:defRPr>
            </a:pPr>
            <a:r>
              <a:t>• confidence: float</a:t>
            </a:r>
          </a:p>
          <a:p>
            <a:pPr>
              <a:defRPr sz="1000">
                <a:solidFill>
                  <a:srgbClr val="94A3B8"/>
                </a:solidFill>
                <a:latin typeface="Segoe UI"/>
              </a:defRPr>
            </a:pPr>
            <a:r>
              <a:t>   Bayesian confidence rating (0.00 - 1.00)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C4B6"/>
                </a:solidFill>
                <a:latin typeface="Trebuchet MS"/>
              </a:defRPr>
            </a:pPr>
            <a:r>
              <a:t>MODULAR SUBSYSTEMS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Trebuchet MS"/>
              </a:defRPr>
            </a:pPr>
            <a:r>
              <a:t>Deep Dive: Four Specialized Agent Nodes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Each node operates with single-responsibility isolation and explicit contracts.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121F26"/>
          </a:solidFill>
          <a:ln w="1524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874520"/>
            <a:ext cx="2011680" cy="32004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1. Planner Node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87452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onsolas"/>
              </a:defRPr>
            </a:pPr>
            <a:r>
              <a:t>agent/nodes/planner.py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Analyzes raw specification, extracts input/output types, algorithmic complexity bounds, and formulates step-by-step logic.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12080" cy="2194560"/>
          </a:xfrm>
          <a:prstGeom prst="roundRect">
            <a:avLst/>
          </a:prstGeom>
          <a:solidFill>
            <a:srgbClr val="121F2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1874520"/>
            <a:ext cx="201168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2. Coder Node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49640" y="187452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onsolas"/>
              </a:defRPr>
            </a:pPr>
            <a:r>
              <a:t>agent/nodes/coder.py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860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Synthesizes code patches. On retry loops, processes stack trace lines and AST frames to fix failing assertions without breaking passing tests.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121F26"/>
          </a:solidFill>
          <a:ln w="15240">
            <a:solidFill>
              <a:srgbClr val="E59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4251960"/>
            <a:ext cx="2011680" cy="320040"/>
          </a:xfrm>
          <a:prstGeom prst="roundRect">
            <a:avLst/>
          </a:prstGeom>
          <a:solidFill>
            <a:srgbClr val="E59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3. Tester Node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108960" y="425196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onsolas"/>
              </a:defRPr>
            </a:pPr>
            <a:r>
              <a:t>agent/nodes/tester.py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6344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Invokes the isolated sandbox runner. Executes test suite, aggregates pass/fail counts, captures stdout/stderr, and determines next routing path.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023360"/>
            <a:ext cx="5212080" cy="2194560"/>
          </a:xfrm>
          <a:prstGeom prst="roundRect">
            <a:avLst/>
          </a:prstGeom>
          <a:solidFill>
            <a:srgbClr val="121F2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46520" y="4251960"/>
            <a:ext cx="201168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4. Refactor Node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9640" y="4251960"/>
            <a:ext cx="265176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onsolas"/>
              </a:defRPr>
            </a:pPr>
            <a:r>
              <a:t>agent/nodes/refactor.py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66344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Optional post-verification pass. Enhances readability, docstrings, and algorithmic elegance with zero regression risk.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C4B6"/>
                </a:solidFill>
                <a:latin typeface="Trebuchet MS"/>
              </a:defRPr>
            </a:pPr>
            <a:r>
              <a:t>AI PEDAGOGICAL TUTOR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Trebuchet MS"/>
              </a:defRPr>
            </a:pPr>
            <a:r>
              <a:t>🦆 Socratic Duck Debugger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Interactive 3-level progressive hint tutor with frustration detection.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3429000" cy="3474720"/>
          </a:xfrm>
          <a:prstGeom prst="roundRect">
            <a:avLst/>
          </a:prstGeom>
          <a:solidFill>
            <a:srgbClr val="121F26"/>
          </a:solidFill>
          <a:ln w="1524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920240"/>
            <a:ext cx="2880360" cy="36576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Level 1: Conceptual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468880"/>
            <a:ext cx="2880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Broad theoretical context, algorithmic constraints, and general language semantics.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Example Guidance:</a:t>
            </a:r>
          </a:p>
          <a:p>
            <a:pPr>
              <a:spcBef>
                <a:spcPts val="300"/>
              </a:spcBef>
              <a:defRPr sz="1100" i="1">
                <a:solidFill>
                  <a:srgbClr val="2EC4B6"/>
                </a:solidFill>
                <a:latin typeface="Segoe UI"/>
              </a:defRPr>
            </a:pPr>
            <a:r>
              <a:t>Ask guiding questions: 'What data structure gives O(1) lookups?'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0832" y="1645920"/>
            <a:ext cx="3429000" cy="3474720"/>
          </a:xfrm>
          <a:prstGeom prst="roundRect">
            <a:avLst/>
          </a:prstGeom>
          <a:solidFill>
            <a:srgbClr val="121F26"/>
          </a:solidFill>
          <a:ln w="15240">
            <a:solidFill>
              <a:srgbClr val="E59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4645152" y="1920240"/>
            <a:ext cx="2880360" cy="365760"/>
          </a:xfrm>
          <a:prstGeom prst="roundRect">
            <a:avLst/>
          </a:prstGeom>
          <a:solidFill>
            <a:srgbClr val="E59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Level 2: Structural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45152" y="2468880"/>
            <a:ext cx="2880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Points to loop bounds, off-by-one indices, branch boundaries, and edge invariants.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Example Guidance:</a:t>
            </a:r>
          </a:p>
          <a:p>
            <a:pPr>
              <a:spcBef>
                <a:spcPts val="300"/>
              </a:spcBef>
              <a:defRPr sz="1100" i="1">
                <a:solidFill>
                  <a:srgbClr val="E59B56"/>
                </a:solidFill>
                <a:latin typeface="Segoe UI"/>
              </a:defRPr>
            </a:pPr>
            <a:r>
              <a:t>Highlights invariant: 'Consider what happens when the array has 1 element.'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10144" y="1645920"/>
            <a:ext cx="3429000" cy="3474720"/>
          </a:xfrm>
          <a:prstGeom prst="roundRect">
            <a:avLst/>
          </a:prstGeom>
          <a:solidFill>
            <a:srgbClr val="121F26"/>
          </a:solidFill>
          <a:ln w="15240">
            <a:solidFill>
              <a:srgbClr val="E25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84464" y="1920240"/>
            <a:ext cx="2880360" cy="365760"/>
          </a:xfrm>
          <a:prstGeom prst="roundRect">
            <a:avLst/>
          </a:prstGeom>
          <a:solidFill>
            <a:srgbClr val="E2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Level 3: Implementation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84464" y="2468880"/>
            <a:ext cx="2880360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Concrete directional cues targeting exact lines and logic constructs without giving it away.</a:t>
            </a:r>
          </a:p>
          <a:p>
            <a:pPr>
              <a:spcBef>
                <a:spcPts val="1000"/>
              </a:spcBef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Example Guidance:</a:t>
            </a:r>
          </a:p>
          <a:p>
            <a:pPr>
              <a:spcBef>
                <a:spcPts val="300"/>
              </a:spcBef>
              <a:defRPr sz="1100" i="1">
                <a:solidFill>
                  <a:srgbClr val="E25A38"/>
                </a:solidFill>
                <a:latin typeface="Segoe UI"/>
              </a:defRPr>
            </a:pPr>
            <a:r>
              <a:t>Concrete hint: 'Check the hash map key update order before returning.'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303520"/>
            <a:ext cx="10728655" cy="1097280"/>
          </a:xfrm>
          <a:prstGeom prst="roundRect">
            <a:avLst/>
          </a:prstGeom>
          <a:solidFill>
            <a:srgbClr val="0E191F"/>
          </a:solidFill>
          <a:ln w="15240">
            <a:solidFill>
              <a:srgbClr val="E59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5349240"/>
            <a:ext cx="10332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E59B56"/>
                </a:solidFill>
                <a:latin typeface="Trebuchet MS"/>
              </a:defRPr>
            </a:pPr>
            <a:r>
              <a:t>✨ Intelligent Adaptive Features:</a:t>
            </a:r>
          </a:p>
          <a:p>
            <a:pPr>
              <a:spcBef>
                <a:spcPts val="300"/>
              </a:spcBef>
              <a:defRPr sz="1100">
                <a:solidFill>
                  <a:srgbClr val="F8FAFC"/>
                </a:solidFill>
                <a:latin typeface="Segoe UI"/>
              </a:defRPr>
            </a:pPr>
            <a:r>
              <a:t>• Frustration Detection: Automatically detects developer struggle and escalates hint depth.</a:t>
            </a:r>
            <a:br/>
            <a:r>
              <a:t>• Source-In = Source-Out: Responds strictly in the target language (Python, Java, TypeScript, Rust, Go, C++).</a:t>
            </a:r>
            <a:br/>
            <a:r>
              <a:t>• Seamless Escape Hatch: 1-Click 'I give up, let the Agent fix it! ⚡' handoff into the autonomous repair pipeline.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C4B6"/>
                </a:solidFill>
                <a:latin typeface="Trebuchet MS"/>
              </a:defRPr>
            </a:pPr>
            <a:r>
              <a:t>SECURITY &amp; EXECUTION ENGINE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Trebuchet MS"/>
              </a:defRPr>
            </a:pPr>
            <a:r>
              <a:t>Ephemeral Polyglot Sandbox Runner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Fast, secure, isolated test execution with strict resource boundaries.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21F2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874520"/>
            <a:ext cx="365760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🔒 Zero-Leak Process Isolation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Runs candidate code in ephemeral sub-processes detached from host environment with forbidden system call fences.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12080" cy="2103120"/>
          </a:xfrm>
          <a:prstGeom prst="roundRect">
            <a:avLst/>
          </a:prstGeom>
          <a:solidFill>
            <a:srgbClr val="121F26"/>
          </a:solidFill>
          <a:ln w="15240">
            <a:solidFill>
              <a:srgbClr val="E25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46520" y="1874520"/>
            <a:ext cx="3657600" cy="320040"/>
          </a:xfrm>
          <a:prstGeom prst="roundRect">
            <a:avLst/>
          </a:prstGeom>
          <a:solidFill>
            <a:srgbClr val="E2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⏱️ Sub-10s Hard Timeouts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Enforces strict wall-clock timeout boundaries to neutralize infinite loops and algorithmic hangs immediately.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21F26"/>
          </a:solidFill>
          <a:ln w="1524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4160520"/>
            <a:ext cx="3657600" cy="32004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🌐 Polyglot Language Runtime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1772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Native test runners for Python (pytest), TypeScript/JavaScript (vitest/node), Java (junit), Rust (cargo test), and Go.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931920"/>
            <a:ext cx="5212080" cy="2103120"/>
          </a:xfrm>
          <a:prstGeom prst="roundRect">
            <a:avLst/>
          </a:prstGeom>
          <a:solidFill>
            <a:srgbClr val="121F2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46520" y="4160520"/>
            <a:ext cx="365760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📊 Structured Diagnostics Capture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617720"/>
            <a:ext cx="46634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Parses stdout, stderr, exit codes, and AST trace lines into standardized JSON diagnostic objects.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5577840"/>
            <a:ext cx="10728655" cy="822960"/>
          </a:xfrm>
          <a:prstGeom prst="roundRect">
            <a:avLst/>
          </a:prstGeom>
          <a:solidFill>
            <a:srgbClr val="0E191F"/>
          </a:solidFill>
          <a:ln w="15240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5623560"/>
            <a:ext cx="103327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b="1">
                <a:solidFill>
                  <a:srgbClr val="2EC4B6"/>
                </a:solidFill>
                <a:latin typeface="Trebuchet MS"/>
              </a:defRPr>
            </a:pPr>
            <a:r>
              <a:t>⚡ Real-World Performance: Average isolated test cycle execution completes in &lt; 0.36 seconds.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C4B6"/>
                </a:solidFill>
                <a:latin typeface="Trebuchet MS"/>
              </a:defRPr>
            </a:pPr>
            <a:r>
              <a:t>VERIFICATION &amp; TRUST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Trebuchet MS"/>
              </a:defRPr>
            </a:pPr>
            <a:r>
              <a:t>Deterministic Proof Receipts &amp; Confidence Scoring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Bridging the enterprise trust gap with cryptographically verifiable execution traces.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4663440"/>
          </a:xfrm>
          <a:prstGeom prst="roundRect">
            <a:avLst/>
          </a:prstGeom>
          <a:solidFill>
            <a:srgbClr val="121F2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920240"/>
            <a:ext cx="274320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8FAFC"/>
                </a:solidFill>
                <a:latin typeface="Trebuchet MS"/>
              </a:defRPr>
            </a:pPr>
            <a:r>
              <a:t>📜 SAMPLE PROOF RECEIPT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7744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2EC4B6"/>
                </a:solidFill>
                <a:latin typeface="Consolas"/>
              </a:defRPr>
            </a:pPr>
            <a:r>
              <a:t>{</a:t>
            </a:r>
            <a:br/>
            <a:r>
              <a:t>  "status": "VERIFIED",</a:t>
            </a:r>
            <a:br/>
            <a:r>
              <a:t>  "iterations_used": 2,</a:t>
            </a:r>
            <a:br/>
            <a:r>
              <a:t>  "tests_passed": "5 / 5 (100%)",</a:t>
            </a:r>
            <a:br/>
            <a:r>
              <a:t>  "execution_time_ms": 348,</a:t>
            </a:r>
            <a:br/>
            <a:r>
              <a:t>  "confidence_score": 0.985,</a:t>
            </a:r>
            <a:br/>
            <a:r>
              <a:t>  "ast_churn": {</a:t>
            </a:r>
            <a:br/>
            <a:r>
              <a:t>    "lines_added": 3,</a:t>
            </a:r>
            <a:br/>
            <a:r>
              <a:t>    "lines_removed": 1,</a:t>
            </a:r>
            <a:br/>
            <a:r>
              <a:t>    "code_preservation": "94.2%"</a:t>
            </a:r>
            <a:br/>
            <a:r>
              <a:t>  },</a:t>
            </a:r>
            <a:br/>
            <a:r>
              <a:t>  "proof_hash": "sha256:7f8e3a2b1c4d9e0f...",</a:t>
            </a:r>
            <a:br/>
            <a:r>
              <a:t>  "signature": "AgenticFixer-v2.4-Audited"</a:t>
            </a:r>
            <a:br/>
            <a: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4663440"/>
          </a:xfrm>
          <a:prstGeom prst="roundRect">
            <a:avLst/>
          </a:prstGeom>
          <a:solidFill>
            <a:srgbClr val="121F26"/>
          </a:solidFill>
          <a:ln w="1524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92240" y="1920240"/>
            <a:ext cx="2743200" cy="32004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8FAFC"/>
                </a:solidFill>
                <a:latin typeface="Trebuchet MS"/>
              </a:defRPr>
            </a:pPr>
            <a:r>
              <a:t>ENTERPRISE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2377440"/>
            <a:ext cx="46634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defRPr sz="1200" b="1">
                <a:solidFill>
                  <a:srgbClr val="F8FAFC"/>
                </a:solidFill>
                <a:latin typeface="Trebuchet MS"/>
              </a:defRPr>
            </a:pPr>
            <a:r>
              <a:t>✓ Zero Human Triage Bottlenecks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  CI/CD pipelines can auto-merge patches that achieve 1.0 confidence proof receipts.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  <a:latin typeface="Trebuchet MS"/>
              </a:defRPr>
            </a:pPr>
            <a:r>
              <a:t>✓ Audit Compliance &amp; Traceability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  Every patch retains its full causal diagnostic trace, AST diff, and timestamp hash.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  <a:latin typeface="Trebuchet MS"/>
              </a:defRPr>
            </a:pPr>
            <a:r>
              <a:t>✓ Surgical AST Invariant Protection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  Ensures minimal code churn (e.g. 94%+ preservation) avoiding style regressions.</a:t>
            </a:r>
          </a:p>
          <a:p>
            <a:pPr>
              <a:spcBef>
                <a:spcPts val="800"/>
              </a:spcBef>
              <a:defRPr sz="1200" b="1">
                <a:solidFill>
                  <a:srgbClr val="F8FAFC"/>
                </a:solidFill>
                <a:latin typeface="Trebuchet MS"/>
              </a:defRPr>
            </a:pPr>
            <a:r>
              <a:t>✓ Bayesian Invariant Scoring</a:t>
            </a:r>
          </a:p>
          <a:p>
            <a:pPr>
              <a:defRPr sz="1100">
                <a:solidFill>
                  <a:srgbClr val="94A3B8"/>
                </a:solidFill>
                <a:latin typeface="Segoe UI"/>
              </a:defRPr>
            </a:pPr>
            <a:r>
              <a:t>  Multi-factor confidence scoring based on test complexity, boundary coverage, and execution stability.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C4B6"/>
                </a:solidFill>
                <a:latin typeface="Trebuchet MS"/>
              </a:defRPr>
            </a:pPr>
            <a:r>
              <a:t>DEVELOPER EXPERIENCE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Trebuchet MS"/>
              </a:defRPr>
            </a:pPr>
            <a:r>
              <a:t>Multi-Surface Accessible Interfaces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Deploy and interact through whatever surface fits your workflow.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94560"/>
          </a:xfrm>
          <a:prstGeom prst="roundRect">
            <a:avLst/>
          </a:prstGeom>
          <a:solidFill>
            <a:srgbClr val="121F26"/>
          </a:solidFill>
          <a:ln w="1524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874520"/>
            <a:ext cx="2560320" cy="32004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🖥️ Streamlit Workspace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98280" y="1874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onsolas"/>
              </a:defRPr>
            </a:pPr>
            <a:r>
              <a:t>ui/app.py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2860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7-page aesthetic cream-grid design system with live LangGraph stepper, interactive diff inspector, and spec benchmarks.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72200" y="1645920"/>
            <a:ext cx="5212080" cy="2194560"/>
          </a:xfrm>
          <a:prstGeom prst="roundRect">
            <a:avLst/>
          </a:prstGeom>
          <a:solidFill>
            <a:srgbClr val="121F2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446520" y="1874520"/>
            <a:ext cx="256032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⚡ Unified Web IDE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98280" y="187452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onsolas"/>
              </a:defRPr>
            </a:pPr>
            <a:r>
              <a:t>ui/api_server.py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46520" y="228600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FastAPI + HTML5/JS standalone web IDE with Monaco editor, live test streaming, and Duck Debugger chat.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023360"/>
            <a:ext cx="5212080" cy="2194560"/>
          </a:xfrm>
          <a:prstGeom prst="roundRect">
            <a:avLst/>
          </a:prstGeom>
          <a:solidFill>
            <a:srgbClr val="121F26"/>
          </a:solidFill>
          <a:ln w="15240">
            <a:solidFill>
              <a:srgbClr val="E59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5840" y="4251960"/>
            <a:ext cx="2560320" cy="320040"/>
          </a:xfrm>
          <a:prstGeom prst="roundRect">
            <a:avLst/>
          </a:prstGeom>
          <a:solidFill>
            <a:srgbClr val="E59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🛠️ CLI &amp; CI/CD Runner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98280" y="425196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onsolas"/>
              </a:defRPr>
            </a:pPr>
            <a:r>
              <a:t>main.py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66344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Headless execution pipeline for automated nightly regression fixing and GitHub Actions integration.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2200" y="4023360"/>
            <a:ext cx="5212080" cy="2194560"/>
          </a:xfrm>
          <a:prstGeom prst="roundRect">
            <a:avLst/>
          </a:prstGeom>
          <a:solidFill>
            <a:srgbClr val="121F26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446520" y="4251960"/>
            <a:ext cx="2560320" cy="320040"/>
          </a:xfrm>
          <a:prstGeom prst="roundRect">
            <a:avLst/>
          </a:prstGeom>
          <a:solidFill>
            <a:srgbClr val="10B9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🌐 Live Cloud Production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98280" y="4251960"/>
            <a:ext cx="2103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Consolas"/>
              </a:defRPr>
            </a:pPr>
            <a:r>
              <a:t>Render Deployment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46520" y="4663440"/>
            <a:ext cx="46634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Live, zero-setup production instance accessible globally at agentic-code-fixer.onrender.com.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C4B6"/>
                </a:solidFill>
                <a:latin typeface="Trebuchet MS"/>
              </a:defRPr>
            </a:pPr>
            <a:r>
              <a:t>EMPIRICAL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Trebuchet MS"/>
              </a:defRPr>
            </a:pPr>
            <a:r>
              <a:t>Curated Benchmark Suite: 40/40 Passing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Tested against classical CS algorithms, data structure bugs, and edge cases.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10728655" cy="4663440"/>
          </a:xfrm>
          <a:prstGeom prst="roundRect">
            <a:avLst/>
          </a:prstGeom>
          <a:solidFill>
            <a:srgbClr val="121F26"/>
          </a:solidFill>
          <a:ln w="15240">
            <a:solidFill>
              <a:srgbClr val="0D6E6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5840" y="1920240"/>
          <a:ext cx="1018001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011680"/>
                <a:gridCol w="2560320"/>
                <a:gridCol w="1645920"/>
                <a:gridCol w="1676095"/>
              </a:tblGrid>
              <a:tr h="587828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EC4B6"/>
                          </a:solidFill>
                          <a:latin typeface="Trebuchet MS"/>
                        </a:defRPr>
                      </a:pPr>
                      <a:r>
                        <a:t>Benchmark Spec</a:t>
                      </a:r>
                    </a:p>
                  </a:txBody>
                  <a:tcPr>
                    <a:solidFill>
                      <a:srgbClr val="0E19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EC4B6"/>
                          </a:solidFill>
                          <a:latin typeface="Trebuchet MS"/>
                        </a:defRPr>
                      </a:pPr>
                      <a:r>
                        <a:t>Algorithmic Domain</a:t>
                      </a:r>
                    </a:p>
                  </a:txBody>
                  <a:tcPr>
                    <a:solidFill>
                      <a:srgbClr val="0E19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EC4B6"/>
                          </a:solidFill>
                          <a:latin typeface="Trebuchet MS"/>
                        </a:defRPr>
                      </a:pPr>
                      <a:r>
                        <a:t>Baseline Bug Type</a:t>
                      </a:r>
                    </a:p>
                  </a:txBody>
                  <a:tcPr>
                    <a:solidFill>
                      <a:srgbClr val="0E19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EC4B6"/>
                          </a:solidFill>
                          <a:latin typeface="Trebuchet MS"/>
                        </a:defRPr>
                      </a:pPr>
                      <a:r>
                        <a:t>Repair Iterations</a:t>
                      </a:r>
                    </a:p>
                  </a:txBody>
                  <a:tcPr>
                    <a:solidFill>
                      <a:srgbClr val="0E19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2EC4B6"/>
                          </a:solidFill>
                          <a:latin typeface="Trebuchet MS"/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0E191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spec_01_two_sum</a:t>
                      </a:r>
                    </a:p>
                  </a:txBody>
                  <a:tcPr>
                    <a:solidFill>
                      <a:srgbClr val="121F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Hash Map / Arrays</a:t>
                      </a:r>
                    </a:p>
                  </a:txBody>
                  <a:tcPr>
                    <a:solidFill>
                      <a:srgbClr val="121F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Off-by-one index boundary</a:t>
                      </a:r>
                    </a:p>
                  </a:txBody>
                  <a:tcPr>
                    <a:solidFill>
                      <a:srgbClr val="121F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1 Cycle</a:t>
                      </a:r>
                    </a:p>
                  </a:txBody>
                  <a:tcPr>
                    <a:solidFill>
                      <a:srgbClr val="121F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✅ Verified</a:t>
                      </a:r>
                    </a:p>
                  </a:txBody>
                  <a:tcPr>
                    <a:solidFill>
                      <a:srgbClr val="121F2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spec_02_lru_cache</a:t>
                      </a:r>
                    </a:p>
                  </a:txBody>
                  <a:tcPr>
                    <a:solidFill>
                      <a:srgbClr val="0E19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Doubly Linked List</a:t>
                      </a:r>
                    </a:p>
                  </a:txBody>
                  <a:tcPr>
                    <a:solidFill>
                      <a:srgbClr val="0E19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Pointer eviction memory leak</a:t>
                      </a:r>
                    </a:p>
                  </a:txBody>
                  <a:tcPr>
                    <a:solidFill>
                      <a:srgbClr val="0E19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2 Cycles</a:t>
                      </a:r>
                    </a:p>
                  </a:txBody>
                  <a:tcPr>
                    <a:solidFill>
                      <a:srgbClr val="0E19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✅ Verified</a:t>
                      </a:r>
                    </a:p>
                  </a:txBody>
                  <a:tcPr>
                    <a:solidFill>
                      <a:srgbClr val="0E191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spec_03_binary_search</a:t>
                      </a:r>
                    </a:p>
                  </a:txBody>
                  <a:tcPr>
                    <a:solidFill>
                      <a:srgbClr val="121F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Divide &amp; Conquer</a:t>
                      </a:r>
                    </a:p>
                  </a:txBody>
                  <a:tcPr>
                    <a:solidFill>
                      <a:srgbClr val="121F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Integer overflow &amp; midpoint</a:t>
                      </a:r>
                    </a:p>
                  </a:txBody>
                  <a:tcPr>
                    <a:solidFill>
                      <a:srgbClr val="121F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1 Cycle</a:t>
                      </a:r>
                    </a:p>
                  </a:txBody>
                  <a:tcPr>
                    <a:solidFill>
                      <a:srgbClr val="121F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✅ Verified</a:t>
                      </a:r>
                    </a:p>
                  </a:txBody>
                  <a:tcPr>
                    <a:solidFill>
                      <a:srgbClr val="121F26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spec_04_merge_intervals</a:t>
                      </a:r>
                    </a:p>
                  </a:txBody>
                  <a:tcPr>
                    <a:solidFill>
                      <a:srgbClr val="0E19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Sorting &amp; Intervals</a:t>
                      </a:r>
                    </a:p>
                  </a:txBody>
                  <a:tcPr>
                    <a:solidFill>
                      <a:srgbClr val="0E19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Overlap boundary merge drop</a:t>
                      </a:r>
                    </a:p>
                  </a:txBody>
                  <a:tcPr>
                    <a:solidFill>
                      <a:srgbClr val="0E19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2 Cycles</a:t>
                      </a:r>
                    </a:p>
                  </a:txBody>
                  <a:tcPr>
                    <a:solidFill>
                      <a:srgbClr val="0E19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✅ Verified</a:t>
                      </a:r>
                    </a:p>
                  </a:txBody>
                  <a:tcPr>
                    <a:solidFill>
                      <a:srgbClr val="0E191F"/>
                    </a:solidFill>
                  </a:tcPr>
                </a:tc>
              </a:tr>
              <a:tr h="587828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spec_05_valid_palindrome</a:t>
                      </a:r>
                    </a:p>
                  </a:txBody>
                  <a:tcPr>
                    <a:solidFill>
                      <a:srgbClr val="121F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Two Pointers / RegEx</a:t>
                      </a:r>
                    </a:p>
                  </a:txBody>
                  <a:tcPr>
                    <a:solidFill>
                      <a:srgbClr val="121F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Unicode &amp; punctuation skip</a:t>
                      </a:r>
                    </a:p>
                  </a:txBody>
                  <a:tcPr>
                    <a:solidFill>
                      <a:srgbClr val="121F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1 Cycle</a:t>
                      </a:r>
                    </a:p>
                  </a:txBody>
                  <a:tcPr>
                    <a:solidFill>
                      <a:srgbClr val="121F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✅ Verified</a:t>
                      </a:r>
                    </a:p>
                  </a:txBody>
                  <a:tcPr>
                    <a:solidFill>
                      <a:srgbClr val="121F26"/>
                    </a:solidFill>
                  </a:tcPr>
                </a:tc>
              </a:tr>
              <a:tr h="587832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Consolas"/>
                        </a:defRPr>
                      </a:pPr>
                      <a:r>
                        <a:t>spec_06_to_08 (Trees/DP)</a:t>
                      </a:r>
                    </a:p>
                  </a:txBody>
                  <a:tcPr>
                    <a:solidFill>
                      <a:srgbClr val="0E19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Dynamic Prog &amp; Trees</a:t>
                      </a:r>
                    </a:p>
                  </a:txBody>
                  <a:tcPr>
                    <a:solidFill>
                      <a:srgbClr val="0E19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Recursion base case &amp; memo</a:t>
                      </a:r>
                    </a:p>
                  </a:txBody>
                  <a:tcPr>
                    <a:solidFill>
                      <a:srgbClr val="0E19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2 Cycles</a:t>
                      </a:r>
                    </a:p>
                  </a:txBody>
                  <a:tcPr>
                    <a:solidFill>
                      <a:srgbClr val="0E191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✅ Verified</a:t>
                      </a:r>
                    </a:p>
                  </a:txBody>
                  <a:tcPr>
                    <a:solidFill>
                      <a:srgbClr val="0E191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457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2EC4B6"/>
                </a:solidFill>
                <a:latin typeface="Trebuchet MS"/>
              </a:defRPr>
            </a:pPr>
            <a:r>
              <a:t>PRODUCTION DEPLOYMENT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731520"/>
            <a:ext cx="106984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F8FAFC"/>
                </a:solidFill>
                <a:latin typeface="Trebuchet MS"/>
              </a:defRPr>
            </a:pPr>
            <a:r>
              <a:t>Enterprise Integration &amp; Production Scenarios</a:t>
            </a:r>
          </a:p>
          <a:p>
            <a:pPr>
              <a:spcBef>
                <a:spcPts val="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Bringing autonomous self-healing into real software engineering pipelines.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645920"/>
            <a:ext cx="5212080" cy="2103120"/>
          </a:xfrm>
          <a:prstGeom prst="roundRect">
            <a:avLst/>
          </a:prstGeom>
          <a:solidFill>
            <a:srgbClr val="121F26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1874520"/>
            <a:ext cx="3474720" cy="320040"/>
          </a:xfrm>
          <a:prstGeom prst="roundRect">
            <a:avLst/>
          </a:prstGeom>
          <a:solidFill>
            <a:srgbClr val="8B5C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🤖 Autonomous CI/CD 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33172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Integrates directly into GitHub Actions or GitLab CI. When a test suite fails on a PR, the agent spins up, diagnoses the stack trace, and opens a verified patch PR.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72200" y="1645920"/>
            <a:ext cx="5212080" cy="2103120"/>
          </a:xfrm>
          <a:prstGeom prst="roundRect">
            <a:avLst/>
          </a:prstGeom>
          <a:solidFill>
            <a:srgbClr val="121F26"/>
          </a:solidFill>
          <a:ln w="1524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446520" y="1874520"/>
            <a:ext cx="3474720" cy="320040"/>
          </a:xfrm>
          <a:prstGeom prst="roundRect">
            <a:avLst/>
          </a:prstGeom>
          <a:solidFill>
            <a:srgbClr val="2EC4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🧑‍💻 IDE Self-Repair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520" y="233172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Companion plugin inside VS Code &amp; JetBrains IDEs. Instant inline patch generation with real-time test verification right under the cursor.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931920"/>
            <a:ext cx="5212080" cy="2103120"/>
          </a:xfrm>
          <a:prstGeom prst="roundRect">
            <a:avLst/>
          </a:prstGeom>
          <a:solidFill>
            <a:srgbClr val="121F26"/>
          </a:solidFill>
          <a:ln w="15240">
            <a:solidFill>
              <a:srgbClr val="E59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1005840" y="4160520"/>
            <a:ext cx="3474720" cy="320040"/>
          </a:xfrm>
          <a:prstGeom prst="roundRect">
            <a:avLst/>
          </a:prstGeom>
          <a:solidFill>
            <a:srgbClr val="E59B5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🎓 Interactive Coding Tutor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61772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Empowers engineering students and interview candidates with Socratic Duck guidance before handing off verified solutions.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72200" y="3931920"/>
            <a:ext cx="5212080" cy="2103120"/>
          </a:xfrm>
          <a:prstGeom prst="roundRect">
            <a:avLst/>
          </a:prstGeom>
          <a:solidFill>
            <a:srgbClr val="121F26"/>
          </a:solidFill>
          <a:ln w="15240">
            <a:solidFill>
              <a:srgbClr val="E25A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446520" y="4160520"/>
            <a:ext cx="3474720" cy="320040"/>
          </a:xfrm>
          <a:prstGeom prst="roundRect">
            <a:avLst/>
          </a:prstGeom>
          <a:solidFill>
            <a:srgbClr val="E25A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8FAFC"/>
                </a:solidFill>
                <a:latin typeface="Trebuchet MS"/>
              </a:defRPr>
            </a:pPr>
            <a:r>
              <a:t>🏢 Legacy Code Modernization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46520" y="4617720"/>
            <a:ext cx="46634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94A3B8"/>
                </a:solidFill>
                <a:latin typeface="Segoe UI"/>
              </a:defRPr>
            </a:pPr>
            <a:r>
              <a:t>Safely refactors legacy codebases to modern standards while guaranteeing zero behavior drift through strict test contract invariants.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C15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21F26"/>
          </a:solidFill>
          <a:ln w="1524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280160" y="1188720"/>
            <a:ext cx="2743200" cy="365760"/>
          </a:xfrm>
          <a:prstGeom prst="roundRect">
            <a:avLst/>
          </a:prstGeom>
          <a:solidFill>
            <a:srgbClr val="0D6E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8FAFC"/>
                </a:solidFill>
                <a:latin typeface="Trebuchet MS"/>
              </a:defRPr>
            </a:pPr>
            <a:r>
              <a:t>⚡ CONCLUSION &amp;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80160" y="1737360"/>
            <a:ext cx="96012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Trebuchet MS"/>
              </a:defRPr>
            </a:pPr>
            <a:r>
              <a:t>The Future of AI Software Engineering</a:t>
            </a:r>
          </a:p>
          <a:p>
            <a:pPr>
              <a:spcBef>
                <a:spcPts val="400"/>
              </a:spcBef>
              <a:defRPr sz="1800" b="1">
                <a:solidFill>
                  <a:srgbClr val="2EC4B6"/>
                </a:solidFill>
                <a:latin typeface="Trebuchet MS"/>
              </a:defRPr>
            </a:pPr>
            <a:r>
              <a:t>Autonomous, Closed-Loop, and Verifiably Correct.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3474720"/>
            <a:ext cx="3017520" cy="2011680"/>
          </a:xfrm>
          <a:prstGeom prst="roundRect">
            <a:avLst/>
          </a:prstGeom>
          <a:solidFill>
            <a:srgbClr val="0E191F"/>
          </a:solidFill>
          <a:ln w="15240">
            <a:solidFill>
              <a:srgbClr val="2EC4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463040" y="365760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C4B6"/>
                </a:solidFill>
                <a:latin typeface="Trebuchet MS"/>
              </a:defRPr>
            </a:pPr>
            <a:r>
              <a:t>🌐 Live Cloud App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Try the live self-healing agent in browser:</a:t>
            </a:r>
            <a:br/>
            <a:r>
              <a:t>https://agentic-code-fixer.onrender.com/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26279" y="3474720"/>
            <a:ext cx="3017520" cy="2011680"/>
          </a:xfrm>
          <a:prstGeom prst="roundRect">
            <a:avLst/>
          </a:prstGeom>
          <a:solidFill>
            <a:srgbClr val="0E191F"/>
          </a:solidFill>
          <a:ln w="15240"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09159" y="365760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8B5CF6"/>
                </a:solidFill>
                <a:latin typeface="Trebuchet MS"/>
              </a:defRPr>
            </a:pPr>
            <a:r>
              <a:t>📦 GitHub Repository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Complete source, tests &amp; benchmarks:</a:t>
            </a:r>
            <a:br/>
            <a:r>
              <a:t>github.com/Sabarixx/agentic-code-fixer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474720"/>
            <a:ext cx="3017520" cy="2011680"/>
          </a:xfrm>
          <a:prstGeom prst="roundRect">
            <a:avLst/>
          </a:prstGeom>
          <a:solidFill>
            <a:srgbClr val="0E191F"/>
          </a:solidFill>
          <a:ln w="15240">
            <a:solidFill>
              <a:srgbClr val="E59B5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0" y="365760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59B56"/>
                </a:solidFill>
                <a:latin typeface="Trebuchet MS"/>
              </a:defRPr>
            </a:pPr>
            <a:r>
              <a:t>📜 Open Source &amp; MIT</a:t>
            </a:r>
          </a:p>
          <a:p>
            <a:pPr>
              <a:spcBef>
                <a:spcPts val="800"/>
              </a:spcBef>
              <a:defRPr sz="1100">
                <a:solidFill>
                  <a:srgbClr val="94A3B8"/>
                </a:solidFill>
                <a:latin typeface="Segoe UI"/>
              </a:defRPr>
            </a:pPr>
            <a:r>
              <a:t>Freely extensible architecture for teams, CI bots, and agentic workflows.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